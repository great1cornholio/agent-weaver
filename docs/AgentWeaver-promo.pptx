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25F02D6-7643-462E-A4D3-D8D0AAC3F8B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5E3C5E-EC2C-4FB1-A314-8A25952CD4F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F31C4D-F158-4B55-968E-C24F6169E54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FF28FB-DC2F-45BB-8DA3-FEF0A6AC97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130ACA-3975-45B5-9A7D-646BA50093F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A655AD-CA7A-43EB-BDC5-ECDC4156B10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9C6F9F-59BE-44E9-BD15-5635367947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372D22-DAB8-4F0F-8884-3E91E7BD515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62F5EF-055F-4A88-B3D8-6B0AED0709A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3D6386-B35B-4129-9565-C01F119B5E9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98511A-341D-48CA-970C-EADCD36A1E2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0B9ED0-9108-4685-B836-BDA5CBAC9D0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55C336-D752-47BD-833B-6F9A41A07A4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BBE01B-DF32-4BCF-8A00-6AD7BAA678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5673EA-BFB3-4B14-93BA-CF93F93511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3474720"/>
            <a:ext cx="9143640" cy="1691280"/>
          </a:xfrm>
          <a:prstGeom prst="rect">
            <a:avLst/>
          </a:prstGeom>
          <a:solidFill>
            <a:srgbClr val="1627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640080" y="731520"/>
            <a:ext cx="777204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AgentWeaver</a:t>
            </a:r>
            <a:br>
              <a:rPr sz="2600"/>
            </a:br>
            <a:br>
              <a:rPr sz="2600"/>
            </a:b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System Multiagentowy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do Autonomicznego Kodowania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640080" y="274320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Based on AMD Strix Halo · 128 GB Unified RAM · llama.cpp Vulkan · GitLab · fork ao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640080" y="38404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Master Spec v1.2  ·  Luty 2026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7863840" y="914400"/>
            <a:ext cx="731160" cy="73116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" name="Image 0" descr="preencoded.png"/>
          <p:cNvPicPr/>
          <p:nvPr/>
        </p:nvPicPr>
        <p:blipFill>
          <a:blip r:embed="rId1"/>
          <a:stretch/>
        </p:blipFill>
        <p:spPr>
          <a:xfrm>
            <a:off x="8010000" y="1060560"/>
            <a:ext cx="438480" cy="438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640080" y="32004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F1B2D"/>
                </a:solidFill>
                <a:effectLst/>
                <a:uFillTx/>
                <a:latin typeface="Georgia"/>
                <a:ea typeface="Georgia"/>
              </a:rPr>
              <a:t>Problem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1"/>
          <p:cNvSpPr/>
          <p:nvPr/>
        </p:nvSpPr>
        <p:spPr>
          <a:xfrm>
            <a:off x="640080" y="1188720"/>
            <a:ext cx="502560" cy="50256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" name="Image 0" descr="preencoded.png"/>
          <p:cNvPicPr/>
          <p:nvPr/>
        </p:nvPicPr>
        <p:blipFill>
          <a:blip r:embed="rId1"/>
          <a:stretch/>
        </p:blipFill>
        <p:spPr>
          <a:xfrm>
            <a:off x="740520" y="1289160"/>
            <a:ext cx="301320" cy="3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Text 2"/>
          <p:cNvSpPr/>
          <p:nvPr/>
        </p:nvSpPr>
        <p:spPr>
          <a:xfrm>
            <a:off x="1371600" y="1188720"/>
            <a:ext cx="7131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Agenty AI potrafią kodować, ale zarządzanie nimi pochłania więcej uwagi niż samo kodowanie.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3"/>
          <p:cNvSpPr/>
          <p:nvPr/>
        </p:nvSpPr>
        <p:spPr>
          <a:xfrm>
            <a:off x="640080" y="2103120"/>
            <a:ext cx="3657240" cy="2285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4"/>
          <p:cNvSpPr/>
          <p:nvPr/>
        </p:nvSpPr>
        <p:spPr>
          <a:xfrm>
            <a:off x="640080" y="2103120"/>
            <a:ext cx="54360" cy="228564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5"/>
          <p:cNvSpPr/>
          <p:nvPr/>
        </p:nvSpPr>
        <p:spPr>
          <a:xfrm>
            <a:off x="914400" y="224028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F4444"/>
                </a:solidFill>
                <a:effectLst/>
                <a:uFillTx/>
                <a:latin typeface="Georgia"/>
                <a:ea typeface="Georgia"/>
              </a:rPr>
              <a:t>Dziś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6"/>
          <p:cNvSpPr/>
          <p:nvPr/>
        </p:nvSpPr>
        <p:spPr>
          <a:xfrm>
            <a:off x="914400" y="2651760"/>
            <a:ext cx="32000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Ręczne śledzenie statusów agentów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Ręczny routing feedbacku CI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Ręczna obsługa review comments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Brak koordynacji między projektami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7"/>
          <p:cNvSpPr/>
          <p:nvPr/>
        </p:nvSpPr>
        <p:spPr>
          <a:xfrm>
            <a:off x="4846320" y="2103120"/>
            <a:ext cx="3657240" cy="2285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8"/>
          <p:cNvSpPr/>
          <p:nvPr/>
        </p:nvSpPr>
        <p:spPr>
          <a:xfrm>
            <a:off x="4846320" y="2103120"/>
            <a:ext cx="54360" cy="2285640"/>
          </a:xfrm>
          <a:prstGeom prst="rect">
            <a:avLst/>
          </a:prstGeom>
          <a:solidFill>
            <a:srgbClr val="22C5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9"/>
          <p:cNvSpPr/>
          <p:nvPr/>
        </p:nvSpPr>
        <p:spPr>
          <a:xfrm>
            <a:off x="5120640" y="224028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2C55E"/>
                </a:solidFill>
                <a:effectLst/>
                <a:uFillTx/>
                <a:latin typeface="Georgia"/>
                <a:ea typeface="Georgia"/>
              </a:rPr>
              <a:t>System Multiagentowy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0"/>
          <p:cNvSpPr/>
          <p:nvPr/>
        </p:nvSpPr>
        <p:spPr>
          <a:xfrm>
            <a:off x="5120640" y="2651760"/>
            <a:ext cx="32000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Automatyczne planowanie i dekompozycja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CI failure → auto-fix przez agenta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Review → developer poprawia automatycznie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Wiele projektów równolegle, zero uwagi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640080" y="27432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Architektura warstwowa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"/>
          <p:cNvSpPr/>
          <p:nvPr/>
        </p:nvSpPr>
        <p:spPr>
          <a:xfrm>
            <a:off x="640080" y="1051560"/>
            <a:ext cx="7863480" cy="868320"/>
          </a:xfrm>
          <a:prstGeom prst="rect">
            <a:avLst/>
          </a:prstGeom>
          <a:solidFill>
            <a:srgbClr val="0D9488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"/>
          <p:cNvSpPr/>
          <p:nvPr/>
        </p:nvSpPr>
        <p:spPr>
          <a:xfrm>
            <a:off x="914400" y="112464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Warstwa 0: Interfejs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3"/>
          <p:cNvSpPr/>
          <p:nvPr/>
        </p:nvSpPr>
        <p:spPr>
          <a:xfrm>
            <a:off x="914400" y="14904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Telegram Bot (HITL)  ·  Web Dashboard  ·  ao CLI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4"/>
          <p:cNvSpPr/>
          <p:nvPr/>
        </p:nvSpPr>
        <p:spPr>
          <a:xfrm>
            <a:off x="640080" y="2011680"/>
            <a:ext cx="7863480" cy="868320"/>
          </a:xfrm>
          <a:prstGeom prst="rect">
            <a:avLst/>
          </a:prstGeom>
          <a:solidFill>
            <a:srgbClr val="1E3A5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5"/>
          <p:cNvSpPr/>
          <p:nvPr/>
        </p:nvSpPr>
        <p:spPr>
          <a:xfrm>
            <a:off x="914400" y="208476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Warstwa 1: Orchestrator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6"/>
          <p:cNvSpPr/>
          <p:nvPr/>
        </p:nvSpPr>
        <p:spPr>
          <a:xfrm>
            <a:off x="914400" y="24505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Session Manager  ·  Reactions Engine  ·  VRAM Scheduler  ·  GitLab Tracker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7"/>
          <p:cNvSpPr/>
          <p:nvPr/>
        </p:nvSpPr>
        <p:spPr>
          <a:xfrm>
            <a:off x="640080" y="2971800"/>
            <a:ext cx="7863480" cy="868320"/>
          </a:xfrm>
          <a:prstGeom prst="rect">
            <a:avLst/>
          </a:prstGeom>
          <a:solidFill>
            <a:srgbClr val="2D5A8E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8"/>
          <p:cNvSpPr/>
          <p:nvPr/>
        </p:nvSpPr>
        <p:spPr>
          <a:xfrm>
            <a:off x="914400" y="304488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Warstwa 2: Agent Pool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9"/>
          <p:cNvSpPr/>
          <p:nvPr/>
        </p:nvSpPr>
        <p:spPr>
          <a:xfrm>
            <a:off x="914400" y="34106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coordinator-plugin  ·  agent-aider  ·  reviewer-plugin  ·  Pipeline Manager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0"/>
          <p:cNvSpPr/>
          <p:nvPr/>
        </p:nvSpPr>
        <p:spPr>
          <a:xfrm>
            <a:off x="640080" y="3931920"/>
            <a:ext cx="7863480" cy="868320"/>
          </a:xfrm>
          <a:prstGeom prst="rect">
            <a:avLst/>
          </a:prstGeom>
          <a:solidFill>
            <a:srgbClr val="1A3D6D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1"/>
          <p:cNvSpPr/>
          <p:nvPr/>
        </p:nvSpPr>
        <p:spPr>
          <a:xfrm>
            <a:off x="914400" y="400500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Warstwa 3: Inference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2"/>
          <p:cNvSpPr/>
          <p:nvPr/>
        </p:nvSpPr>
        <p:spPr>
          <a:xfrm>
            <a:off x="914400" y="437076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llama.cpp Vulkan  ·  Multi-host  ·  GPT-OSS-120 / Qwen3-80B / Qwen3-30B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0"/>
          <p:cNvSpPr/>
          <p:nvPr/>
        </p:nvSpPr>
        <p:spPr>
          <a:xfrm>
            <a:off x="640080" y="27432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0F1B2D"/>
                </a:solidFill>
                <a:effectLst/>
                <a:uFillTx/>
                <a:latin typeface="Georgia"/>
                <a:ea typeface="Georgia"/>
              </a:rPr>
              <a:t>4 typy agentów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"/>
          <p:cNvSpPr/>
          <p:nvPr/>
        </p:nvSpPr>
        <p:spPr>
          <a:xfrm>
            <a:off x="457200" y="1051560"/>
            <a:ext cx="1965600" cy="3474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"/>
          <p:cNvSpPr/>
          <p:nvPr/>
        </p:nvSpPr>
        <p:spPr>
          <a:xfrm>
            <a:off x="457200" y="1051560"/>
            <a:ext cx="1965600" cy="54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3"/>
          <p:cNvSpPr/>
          <p:nvPr/>
        </p:nvSpPr>
        <p:spPr>
          <a:xfrm>
            <a:off x="1143000" y="1325880"/>
            <a:ext cx="548280" cy="54828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" name="Image 0" descr="preencoded.png"/>
          <p:cNvPicPr/>
          <p:nvPr/>
        </p:nvPicPr>
        <p:blipFill>
          <a:blip r:embed="rId1"/>
          <a:stretch/>
        </p:blipFill>
        <p:spPr>
          <a:xfrm>
            <a:off x="1252800" y="143568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Text 4"/>
          <p:cNvSpPr/>
          <p:nvPr/>
        </p:nvSpPr>
        <p:spPr>
          <a:xfrm>
            <a:off x="548640" y="2011680"/>
            <a:ext cx="1782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93B"/>
                </a:solidFill>
                <a:effectLst/>
                <a:uFillTx/>
                <a:latin typeface="Georgia"/>
                <a:ea typeface="Georgia"/>
              </a:rPr>
              <a:t>Coordinator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5"/>
          <p:cNvSpPr/>
          <p:nvPr/>
        </p:nvSpPr>
        <p:spPr>
          <a:xfrm>
            <a:off x="548640" y="2377440"/>
            <a:ext cx="1782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GPT-OSS-120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60 GB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6"/>
          <p:cNvSpPr/>
          <p:nvPr/>
        </p:nvSpPr>
        <p:spPr>
          <a:xfrm>
            <a:off x="594360" y="2880360"/>
            <a:ext cx="16912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Dekompozycja Issue → plan subtasków JSON. Nie pisze kodu.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7"/>
          <p:cNvSpPr/>
          <p:nvPr/>
        </p:nvSpPr>
        <p:spPr>
          <a:xfrm>
            <a:off x="2606040" y="1051560"/>
            <a:ext cx="1965600" cy="3474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8"/>
          <p:cNvSpPr/>
          <p:nvPr/>
        </p:nvSpPr>
        <p:spPr>
          <a:xfrm>
            <a:off x="2606040" y="1051560"/>
            <a:ext cx="1965600" cy="5436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9"/>
          <p:cNvSpPr/>
          <p:nvPr/>
        </p:nvSpPr>
        <p:spPr>
          <a:xfrm>
            <a:off x="3291840" y="1325880"/>
            <a:ext cx="548280" cy="548280"/>
          </a:xfrm>
          <a:prstGeom prst="ellipse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" name="Image 1" descr="preencoded.png"/>
          <p:cNvPicPr/>
          <p:nvPr/>
        </p:nvPicPr>
        <p:blipFill>
          <a:blip r:embed="rId2"/>
          <a:stretch/>
        </p:blipFill>
        <p:spPr>
          <a:xfrm>
            <a:off x="3401640" y="143568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Text 10"/>
          <p:cNvSpPr/>
          <p:nvPr/>
        </p:nvSpPr>
        <p:spPr>
          <a:xfrm>
            <a:off x="2697480" y="2011680"/>
            <a:ext cx="1782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93B"/>
                </a:solidFill>
                <a:effectLst/>
                <a:uFillTx/>
                <a:latin typeface="Georgia"/>
                <a:ea typeface="Georgia"/>
              </a:rPr>
              <a:t>Developer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1"/>
          <p:cNvSpPr/>
          <p:nvPr/>
        </p:nvSpPr>
        <p:spPr>
          <a:xfrm>
            <a:off x="2697480" y="2377440"/>
            <a:ext cx="1782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Qwen3-30B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18 GB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2"/>
          <p:cNvSpPr/>
          <p:nvPr/>
        </p:nvSpPr>
        <p:spPr>
          <a:xfrm>
            <a:off x="2743200" y="2880360"/>
            <a:ext cx="16912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Implementacja TDD: Red → Green → Refactor. Aider subprocess.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3"/>
          <p:cNvSpPr/>
          <p:nvPr/>
        </p:nvSpPr>
        <p:spPr>
          <a:xfrm>
            <a:off x="4754880" y="1051560"/>
            <a:ext cx="1965600" cy="3474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4"/>
          <p:cNvSpPr/>
          <p:nvPr/>
        </p:nvSpPr>
        <p:spPr>
          <a:xfrm>
            <a:off x="4754880" y="1051560"/>
            <a:ext cx="1965600" cy="54360"/>
          </a:xfrm>
          <a:prstGeom prst="rect">
            <a:avLst/>
          </a:prstGeom>
          <a:solidFill>
            <a:srgbClr val="6D2E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5"/>
          <p:cNvSpPr/>
          <p:nvPr/>
        </p:nvSpPr>
        <p:spPr>
          <a:xfrm>
            <a:off x="5440680" y="1325880"/>
            <a:ext cx="548280" cy="548280"/>
          </a:xfrm>
          <a:prstGeom prst="ellipse">
            <a:avLst/>
          </a:prstGeom>
          <a:solidFill>
            <a:srgbClr val="6D2E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9" name="Image 2" descr="preencoded.png"/>
          <p:cNvPicPr/>
          <p:nvPr/>
        </p:nvPicPr>
        <p:blipFill>
          <a:blip r:embed="rId3"/>
          <a:stretch/>
        </p:blipFill>
        <p:spPr>
          <a:xfrm>
            <a:off x="5550480" y="143568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Text 16"/>
          <p:cNvSpPr/>
          <p:nvPr/>
        </p:nvSpPr>
        <p:spPr>
          <a:xfrm>
            <a:off x="4846320" y="2011680"/>
            <a:ext cx="1782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93B"/>
                </a:solidFill>
                <a:effectLst/>
                <a:uFillTx/>
                <a:latin typeface="Georgia"/>
                <a:ea typeface="Georgia"/>
              </a:rPr>
              <a:t>Reviewer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7"/>
          <p:cNvSpPr/>
          <p:nvPr/>
        </p:nvSpPr>
        <p:spPr>
          <a:xfrm>
            <a:off x="4846320" y="2377440"/>
            <a:ext cx="1782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Qwen3-80B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47 GB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8"/>
          <p:cNvSpPr/>
          <p:nvPr/>
        </p:nvSpPr>
        <p:spPr>
          <a:xfrm>
            <a:off x="4892040" y="2880360"/>
            <a:ext cx="16912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Code review MR: diff analysis → glab mr note / approve.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9"/>
          <p:cNvSpPr/>
          <p:nvPr/>
        </p:nvSpPr>
        <p:spPr>
          <a:xfrm>
            <a:off x="6903720" y="1051560"/>
            <a:ext cx="1965600" cy="3474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20"/>
          <p:cNvSpPr/>
          <p:nvPr/>
        </p:nvSpPr>
        <p:spPr>
          <a:xfrm>
            <a:off x="6903720" y="1051560"/>
            <a:ext cx="1965600" cy="5436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1"/>
          <p:cNvSpPr/>
          <p:nvPr/>
        </p:nvSpPr>
        <p:spPr>
          <a:xfrm>
            <a:off x="7589520" y="1325880"/>
            <a:ext cx="548280" cy="54828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" name="Image 3" descr="preencoded.png"/>
          <p:cNvPicPr/>
          <p:nvPr/>
        </p:nvPicPr>
        <p:blipFill>
          <a:blip r:embed="rId4"/>
          <a:stretch/>
        </p:blipFill>
        <p:spPr>
          <a:xfrm>
            <a:off x="7699320" y="143568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Text 22"/>
          <p:cNvSpPr/>
          <p:nvPr/>
        </p:nvSpPr>
        <p:spPr>
          <a:xfrm>
            <a:off x="6995160" y="2011680"/>
            <a:ext cx="1782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93B"/>
                </a:solidFill>
                <a:effectLst/>
                <a:uFillTx/>
                <a:latin typeface="Georgia"/>
                <a:ea typeface="Georgia"/>
              </a:rPr>
              <a:t>Tester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3"/>
          <p:cNvSpPr/>
          <p:nvPr/>
        </p:nvSpPr>
        <p:spPr>
          <a:xfrm>
            <a:off x="6995160" y="2377440"/>
            <a:ext cx="1782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Qwen3-30B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18 GB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4"/>
          <p:cNvSpPr/>
          <p:nvPr/>
        </p:nvSpPr>
        <p:spPr>
          <a:xfrm>
            <a:off x="7040880" y="2880360"/>
            <a:ext cx="16912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Pisze FAILING testy przed implementacją. Aider subprocess.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0"/>
          <p:cNvSpPr/>
          <p:nvPr/>
        </p:nvSpPr>
        <p:spPr>
          <a:xfrm>
            <a:off x="64008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F1B2D"/>
                </a:solidFill>
                <a:effectLst/>
                <a:uFillTx/>
                <a:latin typeface="Georgia"/>
                <a:ea typeface="Georgia"/>
              </a:rPr>
              <a:t>Zarządzanie VRAM — 128 GB Unified RAM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"/>
          <p:cNvSpPr/>
          <p:nvPr/>
        </p:nvSpPr>
        <p:spPr>
          <a:xfrm>
            <a:off x="640080" y="1097280"/>
            <a:ext cx="502560" cy="50256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2" name="Image 0" descr="preencoded.png"/>
          <p:cNvPicPr/>
          <p:nvPr/>
        </p:nvPicPr>
        <p:blipFill>
          <a:blip r:embed="rId1"/>
          <a:stretch/>
        </p:blipFill>
        <p:spPr>
          <a:xfrm>
            <a:off x="740520" y="1197720"/>
            <a:ext cx="301320" cy="3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ext 2"/>
          <p:cNvSpPr/>
          <p:nvPr/>
        </p:nvSpPr>
        <p:spPr>
          <a:xfrm>
            <a:off x="1371600" y="1097280"/>
            <a:ext cx="7131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VRAM Scheduler (Python sidecar, port 9090) zarządza slotami GPU per host. Acquire → Release lifecycle.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4" name="Table 0"/>
          <p:cNvGraphicFramePr/>
          <p:nvPr/>
        </p:nvGraphicFramePr>
        <p:xfrm>
          <a:off x="640080" y="1920240"/>
          <a:ext cx="7863480" cy="149004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2377440"/>
              </a:tblGrid>
              <a:tr h="32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Profil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Modele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VRAM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1E3A5F"/>
                    </a:solidFill>
                  </a:tcPr>
                </a:tc>
              </a:tr>
              <a:tr h="292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full-stack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GPT-OSS-120 + 30B×2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~96 GB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  <a:tr h="292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full-planning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GPT-OSS-120 + 80B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~107 GB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  <a:tr h="292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dev-heavy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80B + 30B×2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~83 GB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  <a:tr h="292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batch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30B×3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~54 GB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5" name="Text 3"/>
          <p:cNvSpPr/>
          <p:nvPr/>
        </p:nvSpPr>
        <p:spPr>
          <a:xfrm>
            <a:off x="6675120" y="3566160"/>
            <a:ext cx="2011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u="none" strike="noStrike">
                <a:solidFill>
                  <a:srgbClr val="0D9488"/>
                </a:solidFill>
                <a:effectLst/>
                <a:uFillTx/>
                <a:latin typeface="Georgia"/>
                <a:ea typeface="Georgia"/>
              </a:rPr>
              <a:t>128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4"/>
          <p:cNvSpPr/>
          <p:nvPr/>
        </p:nvSpPr>
        <p:spPr>
          <a:xfrm>
            <a:off x="6675120" y="420624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GB Unified RAM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 0"/>
          <p:cNvSpPr/>
          <p:nvPr/>
        </p:nvSpPr>
        <p:spPr>
          <a:xfrm>
            <a:off x="640080" y="27432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Integracja z GitLab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"/>
          <p:cNvSpPr/>
          <p:nvPr/>
        </p:nvSpPr>
        <p:spPr>
          <a:xfrm>
            <a:off x="640080" y="1051560"/>
            <a:ext cx="502560" cy="502560"/>
          </a:xfrm>
          <a:prstGeom prst="ellipse">
            <a:avLst/>
          </a:prstGeom>
          <a:solidFill>
            <a:srgbClr val="E243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9" name="Image 0" descr="preencoded.png"/>
          <p:cNvPicPr/>
          <p:nvPr/>
        </p:nvPicPr>
        <p:blipFill>
          <a:blip r:embed="rId1"/>
          <a:stretch/>
        </p:blipFill>
        <p:spPr>
          <a:xfrm>
            <a:off x="740520" y="1152000"/>
            <a:ext cx="301320" cy="3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Text 2"/>
          <p:cNvSpPr/>
          <p:nvPr/>
        </p:nvSpPr>
        <p:spPr>
          <a:xfrm>
            <a:off x="1371600" y="1051560"/>
            <a:ext cx="6857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3 nowe pluginy zastępują natywną integrację ao z GitHub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3"/>
          <p:cNvSpPr/>
          <p:nvPr/>
        </p:nvSpPr>
        <p:spPr>
          <a:xfrm>
            <a:off x="640080" y="1828800"/>
            <a:ext cx="2559960" cy="2559960"/>
          </a:xfrm>
          <a:prstGeom prst="rect">
            <a:avLst/>
          </a:prstGeom>
          <a:solidFill>
            <a:srgbClr val="162744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4"/>
          <p:cNvSpPr/>
          <p:nvPr/>
        </p:nvSpPr>
        <p:spPr>
          <a:xfrm>
            <a:off x="640080" y="1828800"/>
            <a:ext cx="2559960" cy="45360"/>
          </a:xfrm>
          <a:prstGeom prst="rect">
            <a:avLst/>
          </a:prstGeom>
          <a:solidFill>
            <a:srgbClr val="E243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5"/>
          <p:cNvSpPr/>
          <p:nvPr/>
        </p:nvSpPr>
        <p:spPr>
          <a:xfrm>
            <a:off x="777240" y="201168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tracker-gitlab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6"/>
          <p:cNvSpPr/>
          <p:nvPr/>
        </p:nvSpPr>
        <p:spPr>
          <a:xfrm>
            <a:off x="777240" y="2468880"/>
            <a:ext cx="2285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Issues CRUD, labels, auto-close.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glab CLI + GitLab REST API v4.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7"/>
          <p:cNvSpPr/>
          <p:nvPr/>
        </p:nvSpPr>
        <p:spPr>
          <a:xfrm>
            <a:off x="777240" y="374904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24329"/>
                </a:solidFill>
                <a:effectLst/>
                <a:uFillTx/>
                <a:latin typeface="Calibri"/>
                <a:ea typeface="Calibri"/>
              </a:rPr>
              <a:t>2 dni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8"/>
          <p:cNvSpPr/>
          <p:nvPr/>
        </p:nvSpPr>
        <p:spPr>
          <a:xfrm>
            <a:off x="3383280" y="1828800"/>
            <a:ext cx="2559960" cy="2559960"/>
          </a:xfrm>
          <a:prstGeom prst="rect">
            <a:avLst/>
          </a:prstGeom>
          <a:solidFill>
            <a:srgbClr val="162744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9"/>
          <p:cNvSpPr/>
          <p:nvPr/>
        </p:nvSpPr>
        <p:spPr>
          <a:xfrm>
            <a:off x="3383280" y="1828800"/>
            <a:ext cx="2559960" cy="45360"/>
          </a:xfrm>
          <a:prstGeom prst="rect">
            <a:avLst/>
          </a:prstGeom>
          <a:solidFill>
            <a:srgbClr val="E243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0"/>
          <p:cNvSpPr/>
          <p:nvPr/>
        </p:nvSpPr>
        <p:spPr>
          <a:xfrm>
            <a:off x="3520440" y="201168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scm-gitlab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1"/>
          <p:cNvSpPr/>
          <p:nvPr/>
        </p:nvSpPr>
        <p:spPr>
          <a:xfrm>
            <a:off x="3520440" y="2468880"/>
            <a:ext cx="2285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Branch, MR create/merge/diff.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glab mr + Approval Rules.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2"/>
          <p:cNvSpPr/>
          <p:nvPr/>
        </p:nvSpPr>
        <p:spPr>
          <a:xfrm>
            <a:off x="3520440" y="374904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24329"/>
                </a:solidFill>
                <a:effectLst/>
                <a:uFillTx/>
                <a:latin typeface="Calibri"/>
                <a:ea typeface="Calibri"/>
              </a:rPr>
              <a:t>2 dni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3"/>
          <p:cNvSpPr/>
          <p:nvPr/>
        </p:nvSpPr>
        <p:spPr>
          <a:xfrm>
            <a:off x="6126480" y="1828800"/>
            <a:ext cx="2559960" cy="2559960"/>
          </a:xfrm>
          <a:prstGeom prst="rect">
            <a:avLst/>
          </a:prstGeom>
          <a:solidFill>
            <a:srgbClr val="162744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4"/>
          <p:cNvSpPr/>
          <p:nvPr/>
        </p:nvSpPr>
        <p:spPr>
          <a:xfrm>
            <a:off x="6126480" y="1828800"/>
            <a:ext cx="2559960" cy="45360"/>
          </a:xfrm>
          <a:prstGeom prst="rect">
            <a:avLst/>
          </a:prstGeom>
          <a:solidFill>
            <a:srgbClr val="E243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5"/>
          <p:cNvSpPr/>
          <p:nvPr/>
        </p:nvSpPr>
        <p:spPr>
          <a:xfrm>
            <a:off x="6263640" y="201168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reactions adapter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6"/>
          <p:cNvSpPr/>
          <p:nvPr/>
        </p:nvSpPr>
        <p:spPr>
          <a:xfrm>
            <a:off x="6263640" y="2468880"/>
            <a:ext cx="2285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Webhook receiver → ao events.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Pipeline, MR, Note hooks.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7"/>
          <p:cNvSpPr/>
          <p:nvPr/>
        </p:nvSpPr>
        <p:spPr>
          <a:xfrm>
            <a:off x="6263640" y="374904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24329"/>
                </a:solidFill>
                <a:effectLst/>
                <a:uFillTx/>
                <a:latin typeface="Calibri"/>
                <a:ea typeface="Calibri"/>
              </a:rPr>
              <a:t>1-2 dni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8"/>
          <p:cNvSpPr/>
          <p:nvPr/>
        </p:nvSpPr>
        <p:spPr>
          <a:xfrm>
            <a:off x="640080" y="457200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Łącznie: ~1 tydzień  ·  Faza 1 (alpha)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64008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F1B2D"/>
                </a:solidFill>
                <a:effectLst/>
                <a:uFillTx/>
                <a:latin typeface="Georgia"/>
                <a:ea typeface="Georgia"/>
              </a:rPr>
              <a:t>TDD Guard — wymuszony cykl Red → Green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"/>
          <p:cNvSpPr/>
          <p:nvPr/>
        </p:nvSpPr>
        <p:spPr>
          <a:xfrm>
            <a:off x="274320" y="1188720"/>
            <a:ext cx="1554120" cy="2285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"/>
          <p:cNvSpPr/>
          <p:nvPr/>
        </p:nvSpPr>
        <p:spPr>
          <a:xfrm>
            <a:off x="274320" y="1188720"/>
            <a:ext cx="1554120" cy="4536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274320" y="1371600"/>
            <a:ext cx="155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F4444"/>
                </a:solidFill>
                <a:effectLst/>
                <a:uFillTx/>
                <a:latin typeface="Georgia"/>
                <a:ea typeface="Georgia"/>
              </a:rPr>
              <a:t>RED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365760" y="1874520"/>
            <a:ext cx="1371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Tester pisze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failing testy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1828800" y="1828800"/>
            <a:ext cx="228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6"/>
          <p:cNvSpPr/>
          <p:nvPr/>
        </p:nvSpPr>
        <p:spPr>
          <a:xfrm>
            <a:off x="2057400" y="1188720"/>
            <a:ext cx="1554120" cy="2285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7"/>
          <p:cNvSpPr/>
          <p:nvPr/>
        </p:nvSpPr>
        <p:spPr>
          <a:xfrm>
            <a:off x="2057400" y="1188720"/>
            <a:ext cx="1554120" cy="4536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8"/>
          <p:cNvSpPr/>
          <p:nvPr/>
        </p:nvSpPr>
        <p:spPr>
          <a:xfrm>
            <a:off x="2057400" y="1371600"/>
            <a:ext cx="155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59E0B"/>
                </a:solidFill>
                <a:effectLst/>
                <a:uFillTx/>
                <a:latin typeface="Georgia"/>
                <a:ea typeface="Georgia"/>
              </a:rPr>
              <a:t>GUARD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9"/>
          <p:cNvSpPr/>
          <p:nvPr/>
        </p:nvSpPr>
        <p:spPr>
          <a:xfrm>
            <a:off x="2148840" y="1874520"/>
            <a:ext cx="1371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assertRed()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testy MUSZĄ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failować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0"/>
          <p:cNvSpPr/>
          <p:nvPr/>
        </p:nvSpPr>
        <p:spPr>
          <a:xfrm>
            <a:off x="3611880" y="1828800"/>
            <a:ext cx="228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1"/>
          <p:cNvSpPr/>
          <p:nvPr/>
        </p:nvSpPr>
        <p:spPr>
          <a:xfrm>
            <a:off x="3840480" y="1188720"/>
            <a:ext cx="1554120" cy="2285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2"/>
          <p:cNvSpPr/>
          <p:nvPr/>
        </p:nvSpPr>
        <p:spPr>
          <a:xfrm>
            <a:off x="3840480" y="1188720"/>
            <a:ext cx="1554120" cy="4536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3"/>
          <p:cNvSpPr/>
          <p:nvPr/>
        </p:nvSpPr>
        <p:spPr>
          <a:xfrm>
            <a:off x="3840480" y="1371600"/>
            <a:ext cx="155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3A5F"/>
                </a:solidFill>
                <a:effectLst/>
                <a:uFillTx/>
                <a:latin typeface="Georgia"/>
                <a:ea typeface="Georgia"/>
              </a:rPr>
              <a:t>GREEN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4"/>
          <p:cNvSpPr/>
          <p:nvPr/>
        </p:nvSpPr>
        <p:spPr>
          <a:xfrm>
            <a:off x="3931920" y="1874520"/>
            <a:ext cx="1371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Developer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implementuje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minimalny kod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5"/>
          <p:cNvSpPr/>
          <p:nvPr/>
        </p:nvSpPr>
        <p:spPr>
          <a:xfrm>
            <a:off x="5394960" y="1828800"/>
            <a:ext cx="228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6"/>
          <p:cNvSpPr/>
          <p:nvPr/>
        </p:nvSpPr>
        <p:spPr>
          <a:xfrm>
            <a:off x="5623560" y="1188720"/>
            <a:ext cx="1554120" cy="2285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7"/>
          <p:cNvSpPr/>
          <p:nvPr/>
        </p:nvSpPr>
        <p:spPr>
          <a:xfrm>
            <a:off x="5623560" y="1188720"/>
            <a:ext cx="1554120" cy="4536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8"/>
          <p:cNvSpPr/>
          <p:nvPr/>
        </p:nvSpPr>
        <p:spPr>
          <a:xfrm>
            <a:off x="5623560" y="1371600"/>
            <a:ext cx="155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59E0B"/>
                </a:solidFill>
                <a:effectLst/>
                <a:uFillTx/>
                <a:latin typeface="Georgia"/>
                <a:ea typeface="Georgia"/>
              </a:rPr>
              <a:t>GUARD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9"/>
          <p:cNvSpPr/>
          <p:nvPr/>
        </p:nvSpPr>
        <p:spPr>
          <a:xfrm>
            <a:off x="5715000" y="1874520"/>
            <a:ext cx="1371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assertGreen()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testy MUSZĄ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przechodzić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0"/>
          <p:cNvSpPr/>
          <p:nvPr/>
        </p:nvSpPr>
        <p:spPr>
          <a:xfrm>
            <a:off x="7178040" y="1828800"/>
            <a:ext cx="228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21"/>
          <p:cNvSpPr/>
          <p:nvPr/>
        </p:nvSpPr>
        <p:spPr>
          <a:xfrm>
            <a:off x="7406640" y="1188720"/>
            <a:ext cx="1554120" cy="2285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22"/>
          <p:cNvSpPr/>
          <p:nvPr/>
        </p:nvSpPr>
        <p:spPr>
          <a:xfrm>
            <a:off x="7406640" y="1188720"/>
            <a:ext cx="1554120" cy="45360"/>
          </a:xfrm>
          <a:prstGeom prst="rect">
            <a:avLst/>
          </a:prstGeom>
          <a:solidFill>
            <a:srgbClr val="22C5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3"/>
          <p:cNvSpPr/>
          <p:nvPr/>
        </p:nvSpPr>
        <p:spPr>
          <a:xfrm>
            <a:off x="7406640" y="1371600"/>
            <a:ext cx="155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2C55E"/>
                </a:solidFill>
                <a:effectLst/>
                <a:uFillTx/>
                <a:latin typeface="Georgia"/>
                <a:ea typeface="Georgia"/>
              </a:rPr>
              <a:t>REVIEW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4"/>
          <p:cNvSpPr/>
          <p:nvPr/>
        </p:nvSpPr>
        <p:spPr>
          <a:xfrm>
            <a:off x="7498080" y="1874520"/>
            <a:ext cx="1371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Reviewer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code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5"/>
          <p:cNvSpPr/>
          <p:nvPr/>
        </p:nvSpPr>
        <p:spPr>
          <a:xfrm>
            <a:off x="640080" y="374904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tddMode (per projekt):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3" name="Table 0"/>
          <p:cNvGraphicFramePr/>
          <p:nvPr/>
        </p:nvGraphicFramePr>
        <p:xfrm>
          <a:off x="640080" y="4069080"/>
          <a:ext cx="7863480" cy="612360"/>
        </p:xfrm>
        <a:graphic>
          <a:graphicData uri="http://schemas.openxmlformats.org/drawingml/2006/table">
            <a:tbl>
              <a:tblPr/>
              <a:tblGrid>
                <a:gridCol w="2624040"/>
                <a:gridCol w="2624040"/>
                <a:gridCol w="2615040"/>
              </a:tblGrid>
              <a:tr h="292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strict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warn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off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64748B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Guard BLOKUJE pipeline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Guard LOGUJE, kontynuuje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Guard wyłączony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0"/>
          <p:cNvSpPr/>
          <p:nvPr/>
        </p:nvSpPr>
        <p:spPr>
          <a:xfrm>
            <a:off x="640080" y="2286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Pipeline: GitLab Issue → MR merged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"/>
          <p:cNvSpPr/>
          <p:nvPr/>
        </p:nvSpPr>
        <p:spPr>
          <a:xfrm>
            <a:off x="457200" y="1051560"/>
            <a:ext cx="411120" cy="41112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"/>
          <p:cNvSpPr/>
          <p:nvPr/>
        </p:nvSpPr>
        <p:spPr>
          <a:xfrm>
            <a:off x="457200" y="105156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1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3"/>
          <p:cNvSpPr/>
          <p:nvPr/>
        </p:nvSpPr>
        <p:spPr>
          <a:xfrm>
            <a:off x="960120" y="960120"/>
            <a:ext cx="21942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ao spawn → worktree + sesja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4"/>
          <p:cNvSpPr/>
          <p:nvPr/>
        </p:nvSpPr>
        <p:spPr>
          <a:xfrm>
            <a:off x="3337560" y="1051560"/>
            <a:ext cx="411120" cy="411120"/>
          </a:xfrm>
          <a:prstGeom prst="ellipse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3337560" y="105156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2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6"/>
          <p:cNvSpPr/>
          <p:nvPr/>
        </p:nvSpPr>
        <p:spPr>
          <a:xfrm>
            <a:off x="3840480" y="960120"/>
            <a:ext cx="21942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Coordinator → SubtaskPlan JSON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7"/>
          <p:cNvSpPr/>
          <p:nvPr/>
        </p:nvSpPr>
        <p:spPr>
          <a:xfrm>
            <a:off x="6217920" y="1051560"/>
            <a:ext cx="411120" cy="411120"/>
          </a:xfrm>
          <a:prstGeom prst="ellipse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8"/>
          <p:cNvSpPr/>
          <p:nvPr/>
        </p:nvSpPr>
        <p:spPr>
          <a:xfrm>
            <a:off x="6217920" y="105156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3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9"/>
          <p:cNvSpPr/>
          <p:nvPr/>
        </p:nvSpPr>
        <p:spPr>
          <a:xfrm>
            <a:off x="6720840" y="960120"/>
            <a:ext cx="21942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Tester pisze failing testy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0"/>
          <p:cNvSpPr/>
          <p:nvPr/>
        </p:nvSpPr>
        <p:spPr>
          <a:xfrm>
            <a:off x="457200" y="2423160"/>
            <a:ext cx="411120" cy="41112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1"/>
          <p:cNvSpPr/>
          <p:nvPr/>
        </p:nvSpPr>
        <p:spPr>
          <a:xfrm>
            <a:off x="457200" y="242316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4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2"/>
          <p:cNvSpPr/>
          <p:nvPr/>
        </p:nvSpPr>
        <p:spPr>
          <a:xfrm>
            <a:off x="960120" y="2331720"/>
            <a:ext cx="21942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TDD Guard assertRed() ✓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3"/>
          <p:cNvSpPr/>
          <p:nvPr/>
        </p:nvSpPr>
        <p:spPr>
          <a:xfrm>
            <a:off x="3337560" y="2423160"/>
            <a:ext cx="411120" cy="411120"/>
          </a:xfrm>
          <a:prstGeom prst="ellipse">
            <a:avLst/>
          </a:prstGeom>
          <a:solidFill>
            <a:srgbClr val="22C5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4"/>
          <p:cNvSpPr/>
          <p:nvPr/>
        </p:nvSpPr>
        <p:spPr>
          <a:xfrm>
            <a:off x="3337560" y="242316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5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5"/>
          <p:cNvSpPr/>
          <p:nvPr/>
        </p:nvSpPr>
        <p:spPr>
          <a:xfrm>
            <a:off x="3840480" y="2331720"/>
            <a:ext cx="21942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Developer implementuje (Green)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6"/>
          <p:cNvSpPr/>
          <p:nvPr/>
        </p:nvSpPr>
        <p:spPr>
          <a:xfrm>
            <a:off x="6217920" y="2423160"/>
            <a:ext cx="411120" cy="41112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7"/>
          <p:cNvSpPr/>
          <p:nvPr/>
        </p:nvSpPr>
        <p:spPr>
          <a:xfrm>
            <a:off x="6217920" y="242316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6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8"/>
          <p:cNvSpPr/>
          <p:nvPr/>
        </p:nvSpPr>
        <p:spPr>
          <a:xfrm>
            <a:off x="6720840" y="2331720"/>
            <a:ext cx="21942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TDD Guard assertGreen() ✓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9"/>
          <p:cNvSpPr/>
          <p:nvPr/>
        </p:nvSpPr>
        <p:spPr>
          <a:xfrm>
            <a:off x="457200" y="3794760"/>
            <a:ext cx="411120" cy="411120"/>
          </a:xfrm>
          <a:prstGeom prst="ellipse">
            <a:avLst/>
          </a:prstGeom>
          <a:solidFill>
            <a:srgbClr val="6D2E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0"/>
          <p:cNvSpPr/>
          <p:nvPr/>
        </p:nvSpPr>
        <p:spPr>
          <a:xfrm>
            <a:off x="457200" y="379476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7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1"/>
          <p:cNvSpPr/>
          <p:nvPr/>
        </p:nvSpPr>
        <p:spPr>
          <a:xfrm>
            <a:off x="960120" y="3703320"/>
            <a:ext cx="21942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MR → Reviewer code review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2"/>
          <p:cNvSpPr/>
          <p:nvPr/>
        </p:nvSpPr>
        <p:spPr>
          <a:xfrm>
            <a:off x="3337560" y="3794760"/>
            <a:ext cx="411120" cy="411120"/>
          </a:xfrm>
          <a:prstGeom prst="ellipse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3"/>
          <p:cNvSpPr/>
          <p:nvPr/>
        </p:nvSpPr>
        <p:spPr>
          <a:xfrm>
            <a:off x="3337560" y="379476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8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4"/>
          <p:cNvSpPr/>
          <p:nvPr/>
        </p:nvSpPr>
        <p:spPr>
          <a:xfrm>
            <a:off x="3840480" y="3703320"/>
            <a:ext cx="21942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CI/Reactions → auto-fix loop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25"/>
          <p:cNvSpPr/>
          <p:nvPr/>
        </p:nvSpPr>
        <p:spPr>
          <a:xfrm>
            <a:off x="6217920" y="3794760"/>
            <a:ext cx="411120" cy="41112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6"/>
          <p:cNvSpPr/>
          <p:nvPr/>
        </p:nvSpPr>
        <p:spPr>
          <a:xfrm>
            <a:off x="6217920" y="379476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9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7"/>
          <p:cNvSpPr/>
          <p:nvPr/>
        </p:nvSpPr>
        <p:spPr>
          <a:xfrm>
            <a:off x="6720840" y="3703320"/>
            <a:ext cx="21942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Telegram HITL → Merge / Reject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 0"/>
          <p:cNvSpPr/>
          <p:nvPr/>
        </p:nvSpPr>
        <p:spPr>
          <a:xfrm>
            <a:off x="640080" y="27432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0F1B2D"/>
                </a:solidFill>
                <a:effectLst/>
                <a:uFillTx/>
                <a:latin typeface="Georgia"/>
                <a:ea typeface="Georgia"/>
              </a:rPr>
              <a:t>Odporność na błędy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"/>
          <p:cNvSpPr/>
          <p:nvPr/>
        </p:nvSpPr>
        <p:spPr>
          <a:xfrm>
            <a:off x="640080" y="1051560"/>
            <a:ext cx="7863480" cy="822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2"/>
          <p:cNvSpPr/>
          <p:nvPr/>
        </p:nvSpPr>
        <p:spPr>
          <a:xfrm>
            <a:off x="640080" y="1051560"/>
            <a:ext cx="54360" cy="8226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3"/>
          <p:cNvSpPr/>
          <p:nvPr/>
        </p:nvSpPr>
        <p:spPr>
          <a:xfrm>
            <a:off x="822960" y="1207080"/>
            <a:ext cx="456840" cy="45684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6" name="Image 0" descr="preencoded.png"/>
          <p:cNvPicPr/>
          <p:nvPr/>
        </p:nvPicPr>
        <p:blipFill>
          <a:blip r:embed="rId1"/>
          <a:stretch/>
        </p:blipFill>
        <p:spPr>
          <a:xfrm>
            <a:off x="914400" y="12985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Text 4"/>
          <p:cNvSpPr/>
          <p:nvPr/>
        </p:nvSpPr>
        <p:spPr>
          <a:xfrm>
            <a:off x="1463040" y="112464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Georgia"/>
                <a:ea typeface="Georgia"/>
              </a:rPr>
              <a:t>Escalation Chain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5"/>
          <p:cNvSpPr/>
          <p:nvPr/>
        </p:nvSpPr>
        <p:spPr>
          <a:xfrm>
            <a:off x="1463040" y="1435680"/>
            <a:ext cx="6583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Auto-retry → Reactions → Telegram HITL → FAILED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6"/>
          <p:cNvSpPr/>
          <p:nvPr/>
        </p:nvSpPr>
        <p:spPr>
          <a:xfrm>
            <a:off x="640080" y="2011680"/>
            <a:ext cx="7863480" cy="822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7"/>
          <p:cNvSpPr/>
          <p:nvPr/>
        </p:nvSpPr>
        <p:spPr>
          <a:xfrm>
            <a:off x="640080" y="2011680"/>
            <a:ext cx="54360" cy="8226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8"/>
          <p:cNvSpPr/>
          <p:nvPr/>
        </p:nvSpPr>
        <p:spPr>
          <a:xfrm>
            <a:off x="822960" y="2167200"/>
            <a:ext cx="456840" cy="456840"/>
          </a:xfrm>
          <a:prstGeom prst="ellipse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2" name="Image 1" descr="preencoded.png"/>
          <p:cNvPicPr/>
          <p:nvPr/>
        </p:nvPicPr>
        <p:blipFill>
          <a:blip r:embed="rId2"/>
          <a:stretch/>
        </p:blipFill>
        <p:spPr>
          <a:xfrm>
            <a:off x="914400" y="225864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Text 9"/>
          <p:cNvSpPr/>
          <p:nvPr/>
        </p:nvSpPr>
        <p:spPr>
          <a:xfrm>
            <a:off x="1463040" y="208476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Georgia"/>
                <a:ea typeface="Georgia"/>
              </a:rPr>
              <a:t>Pipeline Checkpoint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0"/>
          <p:cNvSpPr/>
          <p:nvPr/>
        </p:nvSpPr>
        <p:spPr>
          <a:xfrm>
            <a:off x="1463040" y="2395800"/>
            <a:ext cx="6583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Stan sesji w .ao/ → ao session restore od currentLayer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1"/>
          <p:cNvSpPr/>
          <p:nvPr/>
        </p:nvSpPr>
        <p:spPr>
          <a:xfrm>
            <a:off x="640080" y="2971800"/>
            <a:ext cx="7863480" cy="822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2"/>
          <p:cNvSpPr/>
          <p:nvPr/>
        </p:nvSpPr>
        <p:spPr>
          <a:xfrm>
            <a:off x="640080" y="2971800"/>
            <a:ext cx="54360" cy="82260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3"/>
          <p:cNvSpPr/>
          <p:nvPr/>
        </p:nvSpPr>
        <p:spPr>
          <a:xfrm>
            <a:off x="822960" y="3127320"/>
            <a:ext cx="456840" cy="45684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8" name="Image 2" descr="preencoded.png"/>
          <p:cNvPicPr/>
          <p:nvPr/>
        </p:nvPicPr>
        <p:blipFill>
          <a:blip r:embed="rId3"/>
          <a:stretch/>
        </p:blipFill>
        <p:spPr>
          <a:xfrm>
            <a:off x="914400" y="32187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Text 14"/>
          <p:cNvSpPr/>
          <p:nvPr/>
        </p:nvSpPr>
        <p:spPr>
          <a:xfrm>
            <a:off x="1463040" y="30448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Georgia"/>
                <a:ea typeface="Georgia"/>
              </a:rPr>
              <a:t>Completion Detector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5"/>
          <p:cNvSpPr/>
          <p:nvPr/>
        </p:nvSpPr>
        <p:spPr>
          <a:xfrm>
            <a:off x="1463040" y="3355920"/>
            <a:ext cx="6583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3 sygnały: marker stdout + git diff + process exit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6"/>
          <p:cNvSpPr/>
          <p:nvPr/>
        </p:nvSpPr>
        <p:spPr>
          <a:xfrm>
            <a:off x="640080" y="3931920"/>
            <a:ext cx="7863480" cy="822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7"/>
          <p:cNvSpPr/>
          <p:nvPr/>
        </p:nvSpPr>
        <p:spPr>
          <a:xfrm>
            <a:off x="640080" y="3931920"/>
            <a:ext cx="54360" cy="822600"/>
          </a:xfrm>
          <a:prstGeom prst="rect">
            <a:avLst/>
          </a:prstGeom>
          <a:solidFill>
            <a:srgbClr val="6D2E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18"/>
          <p:cNvSpPr/>
          <p:nvPr/>
        </p:nvSpPr>
        <p:spPr>
          <a:xfrm>
            <a:off x="822960" y="4087440"/>
            <a:ext cx="456840" cy="456840"/>
          </a:xfrm>
          <a:prstGeom prst="ellipse">
            <a:avLst/>
          </a:prstGeom>
          <a:solidFill>
            <a:srgbClr val="6D2E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4" name="Image 3" descr="preencoded.png"/>
          <p:cNvPicPr/>
          <p:nvPr/>
        </p:nvPicPr>
        <p:blipFill>
          <a:blip r:embed="rId4"/>
          <a:stretch/>
        </p:blipFill>
        <p:spPr>
          <a:xfrm>
            <a:off x="914400" y="41788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Text 19"/>
          <p:cNvSpPr/>
          <p:nvPr/>
        </p:nvSpPr>
        <p:spPr>
          <a:xfrm>
            <a:off x="1463040" y="400500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Georgia"/>
                <a:ea typeface="Georgia"/>
              </a:rPr>
              <a:t>VRAM Reconciliation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0"/>
          <p:cNvSpPr/>
          <p:nvPr/>
        </p:nvSpPr>
        <p:spPr>
          <a:xfrm>
            <a:off x="1463040" y="4316040"/>
            <a:ext cx="6583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Scheduler restart → query /slots → naprawa rozbieżności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/>
          <p:nvPr/>
        </p:nvSpPr>
        <p:spPr>
          <a:xfrm>
            <a:off x="640080" y="27432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Mierniki sukcesu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"/>
          <p:cNvSpPr/>
          <p:nvPr/>
        </p:nvSpPr>
        <p:spPr>
          <a:xfrm>
            <a:off x="365760" y="1097280"/>
            <a:ext cx="1965600" cy="3291480"/>
          </a:xfrm>
          <a:prstGeom prst="rect">
            <a:avLst/>
          </a:prstGeom>
          <a:solidFill>
            <a:srgbClr val="162744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"/>
          <p:cNvSpPr/>
          <p:nvPr/>
        </p:nvSpPr>
        <p:spPr>
          <a:xfrm>
            <a:off x="365760" y="1371600"/>
            <a:ext cx="1965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14B8A6"/>
                </a:solidFill>
                <a:effectLst/>
                <a:uFillTx/>
                <a:latin typeface="Georgia"/>
                <a:ea typeface="Georgia"/>
              </a:rPr>
              <a:t>&gt;70%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"/>
          <p:cNvSpPr/>
          <p:nvPr/>
        </p:nvSpPr>
        <p:spPr>
          <a:xfrm>
            <a:off x="502920" y="2286000"/>
            <a:ext cx="16912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Issue → MR merged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bez HITL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4"/>
          <p:cNvSpPr/>
          <p:nvPr/>
        </p:nvSpPr>
        <p:spPr>
          <a:xfrm>
            <a:off x="502920" y="347472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Akceptowalnie: &gt;50%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5"/>
          <p:cNvSpPr/>
          <p:nvPr/>
        </p:nvSpPr>
        <p:spPr>
          <a:xfrm>
            <a:off x="2560320" y="1097280"/>
            <a:ext cx="1965600" cy="3291480"/>
          </a:xfrm>
          <a:prstGeom prst="rect">
            <a:avLst/>
          </a:prstGeom>
          <a:solidFill>
            <a:srgbClr val="162744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6"/>
          <p:cNvSpPr/>
          <p:nvPr/>
        </p:nvSpPr>
        <p:spPr>
          <a:xfrm>
            <a:off x="2560320" y="1371600"/>
            <a:ext cx="1965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14B8A6"/>
                </a:solidFill>
                <a:effectLst/>
                <a:uFillTx/>
                <a:latin typeface="Georgia"/>
                <a:ea typeface="Georgia"/>
              </a:rPr>
              <a:t>&gt;80%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7"/>
          <p:cNvSpPr/>
          <p:nvPr/>
        </p:nvSpPr>
        <p:spPr>
          <a:xfrm>
            <a:off x="2697480" y="2286000"/>
            <a:ext cx="16912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CI self-correction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auto-fix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8"/>
          <p:cNvSpPr/>
          <p:nvPr/>
        </p:nvSpPr>
        <p:spPr>
          <a:xfrm>
            <a:off x="2697480" y="347472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Akceptowalnie: &gt;60%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9"/>
          <p:cNvSpPr/>
          <p:nvPr/>
        </p:nvSpPr>
        <p:spPr>
          <a:xfrm>
            <a:off x="4754880" y="1097280"/>
            <a:ext cx="1965600" cy="3291480"/>
          </a:xfrm>
          <a:prstGeom prst="rect">
            <a:avLst/>
          </a:prstGeom>
          <a:solidFill>
            <a:srgbClr val="162744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0"/>
          <p:cNvSpPr/>
          <p:nvPr/>
        </p:nvSpPr>
        <p:spPr>
          <a:xfrm>
            <a:off x="4754880" y="1371600"/>
            <a:ext cx="1965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14B8A6"/>
                </a:solidFill>
                <a:effectLst/>
                <a:uFillTx/>
                <a:latin typeface="Georgia"/>
                <a:ea typeface="Georgia"/>
              </a:rPr>
              <a:t>3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1"/>
          <p:cNvSpPr/>
          <p:nvPr/>
        </p:nvSpPr>
        <p:spPr>
          <a:xfrm>
            <a:off x="4892040" y="2286000"/>
            <a:ext cx="16912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Równoległe sesje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bez OOM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2"/>
          <p:cNvSpPr/>
          <p:nvPr/>
        </p:nvSpPr>
        <p:spPr>
          <a:xfrm>
            <a:off x="4892040" y="347472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Akceptowalnie: 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13"/>
          <p:cNvSpPr/>
          <p:nvPr/>
        </p:nvSpPr>
        <p:spPr>
          <a:xfrm>
            <a:off x="6949440" y="1097280"/>
            <a:ext cx="1965600" cy="3291480"/>
          </a:xfrm>
          <a:prstGeom prst="rect">
            <a:avLst/>
          </a:prstGeom>
          <a:solidFill>
            <a:srgbClr val="162744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4"/>
          <p:cNvSpPr/>
          <p:nvPr/>
        </p:nvSpPr>
        <p:spPr>
          <a:xfrm>
            <a:off x="6949440" y="1371600"/>
            <a:ext cx="1965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14B8A6"/>
                </a:solidFill>
                <a:effectLst/>
                <a:uFillTx/>
                <a:latin typeface="Georgia"/>
                <a:ea typeface="Georgia"/>
              </a:rPr>
              <a:t>&lt;10m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5"/>
          <p:cNvSpPr/>
          <p:nvPr/>
        </p:nvSpPr>
        <p:spPr>
          <a:xfrm>
            <a:off x="7086600" y="2286000"/>
            <a:ext cx="16912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Setup nowego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projektu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6"/>
          <p:cNvSpPr/>
          <p:nvPr/>
        </p:nvSpPr>
        <p:spPr>
          <a:xfrm>
            <a:off x="7086600" y="347472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Akceptowalnie: &lt;30m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 0"/>
          <p:cNvSpPr/>
          <p:nvPr/>
        </p:nvSpPr>
        <p:spPr>
          <a:xfrm>
            <a:off x="64008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F1B2D"/>
                </a:solidFill>
                <a:effectLst/>
                <a:uFillTx/>
                <a:latin typeface="Georgia"/>
                <a:ea typeface="Georgia"/>
              </a:rPr>
              <a:t>Harmonogram — 3 fazy do v1.0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"/>
          <p:cNvSpPr/>
          <p:nvPr/>
        </p:nvSpPr>
        <p:spPr>
          <a:xfrm>
            <a:off x="8229600" y="228600"/>
            <a:ext cx="456840" cy="45684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6" name="Image 0" descr="preencoded.png"/>
          <p:cNvPicPr/>
          <p:nvPr/>
        </p:nvPicPr>
        <p:blipFill>
          <a:blip r:embed="rId1"/>
          <a:stretch/>
        </p:blipFill>
        <p:spPr>
          <a:xfrm>
            <a:off x="8321040" y="32004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Shape 2"/>
          <p:cNvSpPr/>
          <p:nvPr/>
        </p:nvSpPr>
        <p:spPr>
          <a:xfrm>
            <a:off x="640080" y="1051560"/>
            <a:ext cx="7863480" cy="1188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3"/>
          <p:cNvSpPr/>
          <p:nvPr/>
        </p:nvSpPr>
        <p:spPr>
          <a:xfrm>
            <a:off x="640080" y="1051560"/>
            <a:ext cx="54360" cy="1188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4"/>
          <p:cNvSpPr/>
          <p:nvPr/>
        </p:nvSpPr>
        <p:spPr>
          <a:xfrm>
            <a:off x="914400" y="112464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D9488"/>
                </a:solidFill>
                <a:effectLst/>
                <a:uFillTx/>
                <a:latin typeface="Georgia"/>
                <a:ea typeface="Georgia"/>
              </a:rPr>
              <a:t>Faza 1: Alpha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5"/>
          <p:cNvSpPr/>
          <p:nvPr/>
        </p:nvSpPr>
        <p:spPr>
          <a:xfrm>
            <a:off x="6858000" y="112464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~4 tyg.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6"/>
          <p:cNvSpPr/>
          <p:nvPr/>
        </p:nvSpPr>
        <p:spPr>
          <a:xfrm>
            <a:off x="914400" y="1463040"/>
            <a:ext cx="7131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agent-aider + VRAM Scheduler + Telegram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tracker-gitlab + scm-gitlab + reactions adapter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CompletionDetector + structured logging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7"/>
          <p:cNvSpPr/>
          <p:nvPr/>
        </p:nvSpPr>
        <p:spPr>
          <a:xfrm>
            <a:off x="640080" y="2377440"/>
            <a:ext cx="7863480" cy="1188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8"/>
          <p:cNvSpPr/>
          <p:nvPr/>
        </p:nvSpPr>
        <p:spPr>
          <a:xfrm>
            <a:off x="640080" y="2377440"/>
            <a:ext cx="54360" cy="118836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9"/>
          <p:cNvSpPr/>
          <p:nvPr/>
        </p:nvSpPr>
        <p:spPr>
          <a:xfrm>
            <a:off x="914400" y="245052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3A5F"/>
                </a:solidFill>
                <a:effectLst/>
                <a:uFillTx/>
                <a:latin typeface="Georgia"/>
                <a:ea typeface="Georgia"/>
              </a:rPr>
              <a:t>Faza 2: Beta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0"/>
          <p:cNvSpPr/>
          <p:nvPr/>
        </p:nvSpPr>
        <p:spPr>
          <a:xfrm>
            <a:off x="6858000" y="245052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+2 tyg.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1"/>
          <p:cNvSpPr/>
          <p:nvPr/>
        </p:nvSpPr>
        <p:spPr>
          <a:xfrm>
            <a:off x="914400" y="2788920"/>
            <a:ext cx="7131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coordinator-plugin + TaskPipelineManager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TDD Guard + PipelineCheckpoint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multi-host (remote endpoints)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12"/>
          <p:cNvSpPr/>
          <p:nvPr/>
        </p:nvSpPr>
        <p:spPr>
          <a:xfrm>
            <a:off x="640080" y="3703320"/>
            <a:ext cx="7863480" cy="1188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3"/>
          <p:cNvSpPr/>
          <p:nvPr/>
        </p:nvSpPr>
        <p:spPr>
          <a:xfrm>
            <a:off x="640080" y="3703320"/>
            <a:ext cx="54360" cy="1188360"/>
          </a:xfrm>
          <a:prstGeom prst="rect">
            <a:avLst/>
          </a:prstGeom>
          <a:solidFill>
            <a:srgbClr val="6D2E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4"/>
          <p:cNvSpPr/>
          <p:nvPr/>
        </p:nvSpPr>
        <p:spPr>
          <a:xfrm>
            <a:off x="914400" y="377640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6D2E46"/>
                </a:solidFill>
                <a:effectLst/>
                <a:uFillTx/>
                <a:latin typeface="Georgia"/>
                <a:ea typeface="Georgia"/>
              </a:rPr>
              <a:t>Faza 3: v1.0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5"/>
          <p:cNvSpPr/>
          <p:nvPr/>
        </p:nvSpPr>
        <p:spPr>
          <a:xfrm>
            <a:off x="6858000" y="377640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+1 tyg.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6"/>
          <p:cNvSpPr/>
          <p:nvPr/>
        </p:nvSpPr>
        <p:spPr>
          <a:xfrm>
            <a:off x="914400" y="4114800"/>
            <a:ext cx="7131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reviewer-plugin + VRAM profiling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testCmd YAML + AGENTS.md override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E2E testy + stabilizacja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7"/>
          <p:cNvSpPr/>
          <p:nvPr/>
        </p:nvSpPr>
        <p:spPr>
          <a:xfrm>
            <a:off x="640080" y="457200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i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Łącznie: ~7 tygodni do produkcji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 0"/>
          <p:cNvSpPr/>
          <p:nvPr/>
        </p:nvSpPr>
        <p:spPr>
          <a:xfrm>
            <a:off x="640080" y="27432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0F1B2D"/>
                </a:solidFill>
                <a:effectLst/>
                <a:uFillTx/>
                <a:latin typeface="Georgia"/>
                <a:ea typeface="Georgia"/>
              </a:rPr>
              <a:t>Ryzyka i mitygacje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4" name="Table 0"/>
          <p:cNvGraphicFramePr/>
          <p:nvPr/>
        </p:nvGraphicFramePr>
        <p:xfrm>
          <a:off x="457200" y="1005840"/>
          <a:ext cx="8229240" cy="224028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4114800"/>
              </a:tblGrid>
              <a:tr h="32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Ryzyko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Poziom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Mitygacja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0F1B2D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ao API zmieni się (świeży projekt)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🔴 Wysokie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Pinuj commit SHA, nie latest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OOM przy 3+ sesjach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🟡 Średnie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VRAM Scheduler + watchdog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Context window overflow (32K)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🟡 Średnie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--map-tokens 8000 + file scoping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GitLab pluginy (nowe vs natywny GH)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🟡 Średnie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glab CLI + REST API v4 fallback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Pipeline crash między warstwami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🟡 Średnie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PipelineCheckpoint w worktree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Shell injection w reviewer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🟡 Średnie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execFileSync (tablica args)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Text 0"/>
          <p:cNvSpPr/>
          <p:nvPr/>
        </p:nvSpPr>
        <p:spPr>
          <a:xfrm>
            <a:off x="640080" y="27432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Stack technologiczny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"/>
          <p:cNvSpPr/>
          <p:nvPr/>
        </p:nvSpPr>
        <p:spPr>
          <a:xfrm>
            <a:off x="640080" y="100584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4B8A6"/>
                </a:solidFill>
                <a:effectLst/>
                <a:uFillTx/>
                <a:latin typeface="Georgia"/>
                <a:ea typeface="Georgia"/>
              </a:rPr>
              <a:t>Orchestrator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"/>
          <p:cNvSpPr/>
          <p:nvPr/>
        </p:nvSpPr>
        <p:spPr>
          <a:xfrm>
            <a:off x="640080" y="12618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ao core (TypeScript, fork)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3"/>
          <p:cNvSpPr/>
          <p:nvPr/>
        </p:nvSpPr>
        <p:spPr>
          <a:xfrm>
            <a:off x="4846320" y="100584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4B8A6"/>
                </a:solidFill>
                <a:effectLst/>
                <a:uFillTx/>
                <a:latin typeface="Georgia"/>
                <a:ea typeface="Georgia"/>
              </a:rPr>
              <a:t>Dashboard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4"/>
          <p:cNvSpPr/>
          <p:nvPr/>
        </p:nvSpPr>
        <p:spPr>
          <a:xfrm>
            <a:off x="4846320" y="126180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Next.js 15 + SSE + xterm.js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5"/>
          <p:cNvSpPr/>
          <p:nvPr/>
        </p:nvSpPr>
        <p:spPr>
          <a:xfrm>
            <a:off x="640080" y="164592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4B8A6"/>
                </a:solidFill>
                <a:effectLst/>
                <a:uFillTx/>
                <a:latin typeface="Georgia"/>
                <a:ea typeface="Georgia"/>
              </a:rPr>
              <a:t>Inference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6"/>
          <p:cNvSpPr/>
          <p:nvPr/>
        </p:nvSpPr>
        <p:spPr>
          <a:xfrm>
            <a:off x="640080" y="19018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llama.cpp + Vulkan (AMD Strix Halo)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7"/>
          <p:cNvSpPr/>
          <p:nvPr/>
        </p:nvSpPr>
        <p:spPr>
          <a:xfrm>
            <a:off x="4846320" y="164592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4B8A6"/>
                </a:solidFill>
                <a:effectLst/>
                <a:uFillTx/>
                <a:latin typeface="Georgia"/>
                <a:ea typeface="Georgia"/>
              </a:rPr>
              <a:t>VRAM Mgmt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8"/>
          <p:cNvSpPr/>
          <p:nvPr/>
        </p:nvSpPr>
        <p:spPr>
          <a:xfrm>
            <a:off x="4846320" y="190188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Python FastAPI sidecar (9090)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9"/>
          <p:cNvSpPr/>
          <p:nvPr/>
        </p:nvSpPr>
        <p:spPr>
          <a:xfrm>
            <a:off x="640080" y="228600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4B8A6"/>
                </a:solidFill>
                <a:effectLst/>
                <a:uFillTx/>
                <a:latin typeface="Georgia"/>
                <a:ea typeface="Georgia"/>
              </a:rPr>
              <a:t>Code Agent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0"/>
          <p:cNvSpPr/>
          <p:nvPr/>
        </p:nvSpPr>
        <p:spPr>
          <a:xfrm>
            <a:off x="640080" y="25419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Aider (subprocess, TDD, repo map)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1"/>
          <p:cNvSpPr/>
          <p:nvPr/>
        </p:nvSpPr>
        <p:spPr>
          <a:xfrm>
            <a:off x="4846320" y="228600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4B8A6"/>
                </a:solidFill>
                <a:effectLst/>
                <a:uFillTx/>
                <a:latin typeface="Georgia"/>
                <a:ea typeface="Georgia"/>
              </a:rPr>
              <a:t>Monitoring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2"/>
          <p:cNvSpPr/>
          <p:nvPr/>
        </p:nvSpPr>
        <p:spPr>
          <a:xfrm>
            <a:off x="4846320" y="254196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Structured JSONL → Langfuse (post-MVP)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3"/>
          <p:cNvSpPr/>
          <p:nvPr/>
        </p:nvSpPr>
        <p:spPr>
          <a:xfrm>
            <a:off x="640080" y="292608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4B8A6"/>
                </a:solidFill>
                <a:effectLst/>
                <a:uFillTx/>
                <a:latin typeface="Georgia"/>
                <a:ea typeface="Georgia"/>
              </a:rPr>
              <a:t>VCS / SCM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4"/>
          <p:cNvSpPr/>
          <p:nvPr/>
        </p:nvSpPr>
        <p:spPr>
          <a:xfrm>
            <a:off x="640080" y="31820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GitLab + glab CLI + git worktree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5"/>
          <p:cNvSpPr/>
          <p:nvPr/>
        </p:nvSpPr>
        <p:spPr>
          <a:xfrm>
            <a:off x="4846320" y="292608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4B8A6"/>
                </a:solidFill>
                <a:effectLst/>
                <a:uFillTx/>
                <a:latin typeface="Georgia"/>
                <a:ea typeface="Georgia"/>
              </a:rPr>
              <a:t>Pipeline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6"/>
          <p:cNvSpPr/>
          <p:nvPr/>
        </p:nvSpPr>
        <p:spPr>
          <a:xfrm>
            <a:off x="4846320" y="318204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TaskPipelineManager + TDD Guard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7"/>
          <p:cNvSpPr/>
          <p:nvPr/>
        </p:nvSpPr>
        <p:spPr>
          <a:xfrm>
            <a:off x="640080" y="356616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4B8A6"/>
                </a:solidFill>
                <a:effectLst/>
                <a:uFillTx/>
                <a:latin typeface="Georgia"/>
                <a:ea typeface="Georgia"/>
              </a:rPr>
              <a:t>CI/CD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8"/>
          <p:cNvSpPr/>
          <p:nvPr/>
        </p:nvSpPr>
        <p:spPr>
          <a:xfrm>
            <a:off x="640080" y="382212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GitLab CI/CD (reactions engine)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9"/>
          <p:cNvSpPr/>
          <p:nvPr/>
        </p:nvSpPr>
        <p:spPr>
          <a:xfrm>
            <a:off x="4846320" y="356616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4B8A6"/>
                </a:solidFill>
                <a:effectLst/>
                <a:uFillTx/>
                <a:latin typeface="Georgia"/>
                <a:ea typeface="Georgia"/>
              </a:rPr>
              <a:t>Sandbox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20"/>
          <p:cNvSpPr/>
          <p:nvPr/>
        </p:nvSpPr>
        <p:spPr>
          <a:xfrm>
            <a:off x="4846320" y="382212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Docker runtime (opcjonalny)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21"/>
          <p:cNvSpPr/>
          <p:nvPr/>
        </p:nvSpPr>
        <p:spPr>
          <a:xfrm>
            <a:off x="640080" y="420624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4B8A6"/>
                </a:solidFill>
                <a:effectLst/>
                <a:uFillTx/>
                <a:latin typeface="Georgia"/>
                <a:ea typeface="Georgia"/>
              </a:rPr>
              <a:t>HITL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22"/>
          <p:cNvSpPr/>
          <p:nvPr/>
        </p:nvSpPr>
        <p:spPr>
          <a:xfrm>
            <a:off x="640080" y="44622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Telegram Bot (inline keyboard)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23"/>
          <p:cNvSpPr/>
          <p:nvPr/>
        </p:nvSpPr>
        <p:spPr>
          <a:xfrm>
            <a:off x="4846320" y="420624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4B8A6"/>
                </a:solidFill>
                <a:effectLst/>
                <a:uFillTx/>
                <a:latin typeface="Georgia"/>
                <a:ea typeface="Georgia"/>
              </a:rPr>
              <a:t>Licencja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24"/>
          <p:cNvSpPr/>
          <p:nvPr/>
        </p:nvSpPr>
        <p:spPr>
          <a:xfrm>
            <a:off x="4846320" y="446220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MIT — pełna swoboda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0"/>
          <p:cNvSpPr/>
          <p:nvPr/>
        </p:nvSpPr>
        <p:spPr>
          <a:xfrm>
            <a:off x="0" y="3291840"/>
            <a:ext cx="9143640" cy="1919880"/>
          </a:xfrm>
          <a:prstGeom prst="rect">
            <a:avLst/>
          </a:prstGeom>
          <a:solidFill>
            <a:srgbClr val="1627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1"/>
          <p:cNvSpPr/>
          <p:nvPr/>
        </p:nvSpPr>
        <p:spPr>
          <a:xfrm>
            <a:off x="4023360" y="548640"/>
            <a:ext cx="914040" cy="91404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2" name="Image 0" descr="preencoded.png"/>
          <p:cNvPicPr/>
          <p:nvPr/>
        </p:nvPicPr>
        <p:blipFill>
          <a:blip r:embed="rId1"/>
          <a:stretch/>
        </p:blipFill>
        <p:spPr>
          <a:xfrm>
            <a:off x="4206240" y="73152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3" name="Text 2"/>
          <p:cNvSpPr/>
          <p:nvPr/>
        </p:nvSpPr>
        <p:spPr>
          <a:xfrm>
            <a:off x="457200" y="1737360"/>
            <a:ext cx="8229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GitLab Issue → MR merged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bez interwencji człowieka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3"/>
          <p:cNvSpPr/>
          <p:nvPr/>
        </p:nvSpPr>
        <p:spPr>
          <a:xfrm>
            <a:off x="457200" y="34747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7 tygodni do v1.0  ·  &gt;70% autonomii  ·  128 GB  ·  3 workerów stabilnie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4"/>
          <p:cNvSpPr/>
          <p:nvPr/>
        </p:nvSpPr>
        <p:spPr>
          <a:xfrm>
            <a:off x="457200" y="41148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Master Spec v1.2  ·  Luty 2026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LibreOffice/26.2.0.3$Linux_X86_64 LibreOffice_project/620$Build-3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2026-02-22T14:44:56Z</dcterms:created>
  <dc:creator>System Multiagentowy</dc:creator>
  <dc:description/>
  <dc:language>en-US</dc:language>
  <cp:lastModifiedBy/>
  <dcterms:modified xsi:type="dcterms:W3CDTF">2026-02-22T15:56:54Z</dcterms:modified>
  <cp:revision>2</cp:revision>
  <dc:subject>PptxGenJS Presentation</dc:subject>
  <dc:title>System Multiagentowy do Autonomicznego Kodowania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On-screen Show (16:9)</vt:lpwstr>
  </property>
  <property fmtid="{D5CDD505-2E9C-101B-9397-08002B2CF9AE}" pid="4" name="Slides">
    <vt:i4>14</vt:i4>
  </property>
</Properties>
</file>